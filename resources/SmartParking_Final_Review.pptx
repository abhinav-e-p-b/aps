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57" r:id="rId4"/>
    <p:sldId id="268" r:id="rId5"/>
    <p:sldId id="269" r:id="rId6"/>
    <p:sldId id="258" r:id="rId7"/>
    <p:sldId id="259" r:id="rId8"/>
    <p:sldId id="260" r:id="rId9"/>
    <p:sldId id="261" r:id="rId10"/>
    <p:sldId id="270" r:id="rId11"/>
    <p:sldId id="271" r:id="rId12"/>
    <p:sldId id="272" r:id="rId13"/>
    <p:sldId id="273" r:id="rId14"/>
    <p:sldId id="274" r:id="rId15"/>
    <p:sldId id="262" r:id="rId16"/>
    <p:sldId id="263" r:id="rId17"/>
    <p:sldId id="264" r:id="rId18"/>
    <p:sldId id="265" r:id="rId19"/>
    <p:sldId id="26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31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📷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Smart Parking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196F3"/>
                </a:solidFill>
              </a:rPr>
              <a:t>Using ANPR — Automatic Number Plate Recognition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</a:rPr>
              <a:t>Final Review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Midhunmadhav A R  |  Nimal Krishna M  |  Abhinave P 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Govt. Engineering College, Thrissur  —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DFDC90-C9A6-F53D-D491-6599BDC150CC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2200" b="1" dirty="0">
                <a:solidFill>
                  <a:srgbClr val="FFFFFF"/>
                </a:solidFill>
              </a:rPr>
              <a:t> Introduction</a:t>
            </a:r>
            <a:endParaRPr lang="en-US" sz="2200" dirty="0"/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DD54A-1391-EAED-5A6F-B154847CC719}"/>
              </a:ext>
            </a:extLst>
          </p:cNvPr>
          <p:cNvSpPr txBox="1"/>
          <p:nvPr/>
        </p:nvSpPr>
        <p:spPr>
          <a:xfrm>
            <a:off x="157882" y="802568"/>
            <a:ext cx="8459845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Kanakakunnu Palace in Thiruvananthapuram is one of Kerala’s most visited tourist destinations receiving thousands of visitors on a daily basis.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existing parking infrastructure at this location relies entirely on manual processes – vehicles arrive at the gate,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Staff physically record vehicle details, collect payments, and manually assign parking slots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70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Why does Kanakakunnu Palace need this system?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Long Queues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Every vehicle stops at the gate for manual entry — creating severe bottlenecks during peak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108710"/>
            <a:ext cx="269748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Payment Process Delay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Entry gate payment option. All payments collected manually at the gate by staff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108710"/>
            <a:ext cx="269748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Manual Records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Vehicle details are recorded manually, leading to errors and inefficiency</a:t>
            </a:r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Result: Poor visitor experience, high staff workload, and manual parking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8A360A-B6BF-075A-97F8-4F7E7A40A97C}"/>
              </a:ext>
            </a:extLst>
          </p:cNvPr>
          <p:cNvSpPr/>
          <p:nvPr/>
        </p:nvSpPr>
        <p:spPr>
          <a:xfrm>
            <a:off x="0" y="-6578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FFFFFF"/>
                </a:solidFill>
              </a:rPr>
              <a:t> Objectives</a:t>
            </a:r>
            <a:endParaRPr lang="en-US" sz="20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58DD4-D403-3DD4-C0AA-30490A913461}"/>
              </a:ext>
            </a:extLst>
          </p:cNvPr>
          <p:cNvSpPr txBox="1"/>
          <p:nvPr/>
        </p:nvSpPr>
        <p:spPr>
          <a:xfrm>
            <a:off x="182550" y="636930"/>
            <a:ext cx="8527273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develop a web-based vehicle registration system that allows users to register and pay for parking in advance.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implement an Automatic Number Plate Recognition (ANPR) system for real-time vehicle </a:t>
            </a:r>
            <a:r>
              <a:rPr lang="en-US" dirty="0" err="1"/>
              <a:t>identification,Verification</a:t>
            </a:r>
            <a:r>
              <a:rPr lang="en-US" dirty="0"/>
              <a:t> and automated entry.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build an admin dashboard for monitoring parking slots, tracking vehicle entry/exit, and managing operations efficiently.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enable secure</a:t>
            </a:r>
            <a:r>
              <a:rPr lang="en-US" b="1" dirty="0"/>
              <a:t> </a:t>
            </a:r>
            <a:r>
              <a:rPr lang="en-US" dirty="0"/>
              <a:t>authentication and digital payments, reducing manual work and improving user convenience.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5DB207-A26D-22E3-1D29-B6FEC6619722}"/>
              </a:ext>
            </a:extLst>
          </p:cNvPr>
          <p:cNvSpPr/>
          <p:nvPr/>
        </p:nvSpPr>
        <p:spPr>
          <a:xfrm>
            <a:off x="0" y="-6578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FFFFFF"/>
                </a:solidFill>
              </a:rPr>
              <a:t> Existing Solutions</a:t>
            </a:r>
            <a:endParaRPr lang="en-US" sz="2000" dirty="0"/>
          </a:p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DA88E4-1A35-88EF-DEAE-91FDE5BB7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39" y="740384"/>
            <a:ext cx="9042535" cy="416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Parking System</a:t>
            </a: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Parking is managed manually by staff, where vehicle details are recorded and payments are collected at the entry gate,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leading to long queues and delays. 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Barrier-Based Ticketing System</a:t>
            </a:r>
            <a:b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Vehicles receive a ticket at entry and pay at exit, but still need to stop at gates, causing congestion and inefficiency. 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RFID-Based Parking System</a:t>
            </a:r>
            <a:b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lang="en-US" sz="1400" dirty="0"/>
              <a:t>ystems enable automatic entry but require prior registration and tag configuration before arriving, making it less suitable for tourist venues with large numbers of first-time and walk-in visitors.</a:t>
            </a: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ANPR-Based Systems</a:t>
            </a:r>
            <a:b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number plate recognition for automated access, but often lacks integration with pre-registration and payment systems. </a:t>
            </a:r>
          </a:p>
          <a:p>
            <a:pPr marL="0" marR="0" lvl="0" indent="0" algn="l" defTabSz="914400" rtl="0" eaLnBrk="0" fontAlgn="base" latinLnBrk="0" hangingPunct="0">
              <a:lnSpc>
                <a:spcPct val="1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Parking Booking Systems</a:t>
            </a:r>
            <a:b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advance booking and payment, but still requires manual verification at entry, reducing efficiency </a:t>
            </a:r>
          </a:p>
        </p:txBody>
      </p:sp>
    </p:spTree>
    <p:extLst>
      <p:ext uri="{BB962C8B-B14F-4D97-AF65-F5344CB8AC3E}">
        <p14:creationId xmlns:p14="http://schemas.microsoft.com/office/powerpoint/2010/main" val="179222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3906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Proposed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A dual-lane Smart Parking System combining online pre-registration with ANPR camera entry: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4688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4231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</a:rPr>
              <a:t>Visitor register vehicle &amp; pays digitally via web portal before arriving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4688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Camera Reads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24231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</a:rPr>
              <a:t>ANPR camera reads number plate at entry — no stopping, no manual check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46888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 Verify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24231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</a:rPr>
              <a:t>System checks database and opens gate automatically for registered vehicles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96F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196F3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🚗  ANPR Lane → Pre-registered visitors enter automatically     |     🧑  Manual Lane → Walk-in visitors handled by staff as before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Walk-in visitors are not excluded — the manual lane continues to operate alongside the ANPR lane.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19" y="0"/>
            <a:ext cx="90865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Portal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Registration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&amp; Payment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09728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39112" y="68580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7498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39112" y="1325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ANPR Camera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9112" y="1664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Plate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109728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58184" y="68580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7498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58184" y="1325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58184" y="1664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Verify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Match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66944" y="109728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77256" y="68580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7498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🚧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77256" y="1325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Gate Entry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77256" y="1664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Open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Deny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86016" y="109728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96328" y="685800"/>
            <a:ext cx="1508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7498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96328" y="1325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96328" y="1664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Logs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Monitoring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286000"/>
            <a:ext cx="402336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Entry 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Vehicle arrives → Camera reads plate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Database verifies registration &amp; payment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Slot availability checked → Gate opens → Allocate slot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286000"/>
            <a:ext cx="4023360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Exit Flow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Vehicle exits → Camera reads plate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Exit timestamp logged in database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Parking slot marked as available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96F3"/>
                </a:solidFill>
              </a:rPr>
              <a:t>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 ANPR Module — How It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704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Image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0149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Camera captures frame of incoming vehicle at entry/exit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0" cy="20116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27048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2704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1545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Plate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18562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YOLOv8 model locates the number plate region in the 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167128"/>
            <a:ext cx="0" cy="20116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68296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6829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2386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OCR / Text Read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26974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PaddleOCR extracts alphanumeric text from the cropped plate image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008376"/>
            <a:ext cx="0" cy="20116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09544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0954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Confidence Check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5387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Score ≥ 75% → proceed. Below threshold → flag for manual 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849624"/>
            <a:ext cx="0" cy="201168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050792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5079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Database Match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379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Plate compared with registered vehicles. Grant access or deny entry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Technology Stack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433940"/>
              </p:ext>
            </p:extLst>
          </p:nvPr>
        </p:nvGraphicFramePr>
        <p:xfrm>
          <a:off x="365760" y="1005840"/>
          <a:ext cx="4206240" cy="310895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React 18 + Vite + Tailwind CSS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ANPR Detection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YOLOv8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OCR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PaddleOCR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Supabase (PostgreSQL)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Authentication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Google Auth (Supabase Auth)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Version Control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Git + GitHub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640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Web Portal — 5 Pages</a:t>
            </a:r>
            <a:endParaRPr lang="en-US" sz="1300" dirty="0"/>
          </a:p>
        </p:txBody>
      </p:sp>
      <p:sp>
        <p:nvSpPr>
          <p:cNvPr id="5" name="Shape 4"/>
          <p:cNvSpPr/>
          <p:nvPr/>
        </p:nvSpPr>
        <p:spPr>
          <a:xfrm>
            <a:off x="4846320" y="1005840"/>
            <a:ext cx="40233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94960" y="103327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Login / Landing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User &amp; Admin toggle, Google - Login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64208"/>
            <a:ext cx="40233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642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4960" y="16916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Signup (3-Step)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19385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Continue with Google → Name and Phone no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2322576"/>
            <a:ext cx="40233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3225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94960" y="235000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Vehicle Register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0" y="2596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Details → payment → Confirm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980944"/>
            <a:ext cx="40233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9809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94960" y="300837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Authentication</a:t>
            </a:r>
          </a:p>
        </p:txBody>
      </p:sp>
      <p:sp>
        <p:nvSpPr>
          <p:cNvPr id="22" name="Text 19"/>
          <p:cNvSpPr/>
          <p:nvPr/>
        </p:nvSpPr>
        <p:spPr>
          <a:xfrm>
            <a:off x="5394960" y="3255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Payment Authentication flow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639312"/>
            <a:ext cx="40233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639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394960" y="36667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94960" y="3913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Live stats, logs, controls, CSV export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D01E52-D53B-11A7-53D3-8668321F2518}"/>
              </a:ext>
            </a:extLst>
          </p:cNvPr>
          <p:cNvSpPr/>
          <p:nvPr/>
        </p:nvSpPr>
        <p:spPr>
          <a:xfrm>
            <a:off x="0" y="-46048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Database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00D7F-E84D-539E-45F5-658FCDE4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48641"/>
            <a:ext cx="9144000" cy="463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64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482D3E-BBE3-9F18-AD5A-459833A701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08"/>
          <a:stretch/>
        </p:blipFill>
        <p:spPr>
          <a:xfrm>
            <a:off x="461740" y="619388"/>
            <a:ext cx="8125548" cy="40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3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03FC63-2A40-47D1-EF13-19B928DBC8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00"/>
          <a:stretch/>
        </p:blipFill>
        <p:spPr>
          <a:xfrm>
            <a:off x="452981" y="516617"/>
            <a:ext cx="8238037" cy="41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3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EA25C-AB3A-D873-CD61-564ABD9683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59"/>
          <a:stretch/>
        </p:blipFill>
        <p:spPr>
          <a:xfrm>
            <a:off x="430307" y="497365"/>
            <a:ext cx="8085404" cy="404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1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C4E88-4B7B-8067-6068-2E001BD966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35"/>
          <a:stretch/>
        </p:blipFill>
        <p:spPr>
          <a:xfrm>
            <a:off x="455328" y="513976"/>
            <a:ext cx="7998513" cy="399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90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Admin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7 sections accessible via sidebar — provides complete control and visibility over the parking system: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106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80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Live stats — vehicles today, currently inside, available slots, today's revenue. Slot booked Vehicle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Vehicles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List of vehicles inside the Parking area, vehicle type, and force-exit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25496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2549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Event 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Every ANPR detection event with plate number, confidence score, timestamp, and access decision.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124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Manual Controls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Staff can manually grant entry or force exit for any vehicle — handles edge cases and walk-ins.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51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1106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Export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380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Download entry/exit logs as CSV for reporting, analysis, or audit purposes.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93266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198753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26185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952123"/>
            <a:ext cx="4206240" cy="749808"/>
          </a:xfrm>
          <a:prstGeom prst="rect">
            <a:avLst/>
          </a:prstGeom>
          <a:solidFill>
            <a:srgbClr val="E8F0FE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1952123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49240" y="2006987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System Config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281307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</a:rPr>
              <a:t>Configure total parking slots, ANPR confidence threshold, and operating hours.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77441" y="5760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7132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7132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0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03520" y="2706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03520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03520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03520" y="38313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03520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0" y="4581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1A73E938-7EED-FB8E-3E85-726CDA42B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7752"/>
            <a:ext cx="9144000" cy="476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 number plate detection works reliably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ANPR pipeline is successfully detecting and reading plates from test images or video frames.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sign‑up and sign‑in functionality works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New users can register, and existing users can log in without errors.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 registration and slot booking flow works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Users can register their vehicle details and successfully book a parking spot when capacity allows.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 or simulated payment works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payment step completes as intended, marking the booking as confirmed in the system.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Admin can view complete vehicle and booking details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 </a:t>
            </a:r>
            <a:r>
              <a:rPr lang="en-US" altLang="en-US" sz="1400" dirty="0">
                <a:latin typeface="Arial" panose="020B0604020202020204" pitchFamily="34" charset="0"/>
              </a:rPr>
              <a:t>The administrator can access and monitor complete information about registered users and vehicles</a:t>
            </a: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HeaderBar">
            <a:extLst>
              <a:ext uri="{FF2B5EF4-FFF2-40B4-BE49-F238E27FC236}">
                <a16:creationId xmlns:a16="http://schemas.microsoft.com/office/drawing/2014/main" id="{CBEDDFB0-50E1-A44C-A0B1-02591D7FDD82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735D111C-F89A-D85A-D790-9AF2EDC0AE2D}"/>
              </a:ext>
            </a:extLst>
          </p:cNvPr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31" name="Num1">
            <a:extLst>
              <a:ext uri="{FF2B5EF4-FFF2-40B4-BE49-F238E27FC236}">
                <a16:creationId xmlns:a16="http://schemas.microsoft.com/office/drawing/2014/main" id="{8585501B-8A0F-F9C9-532C-A5B4AE1DE7C0}"/>
              </a:ext>
            </a:extLst>
          </p:cNvPr>
          <p:cNvSpPr/>
          <p:nvPr/>
        </p:nvSpPr>
        <p:spPr>
          <a:xfrm>
            <a:off x="320040" y="731520"/>
            <a:ext cx="411480" cy="4114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1">
            <a:extLst>
              <a:ext uri="{FF2B5EF4-FFF2-40B4-BE49-F238E27FC236}">
                <a16:creationId xmlns:a16="http://schemas.microsoft.com/office/drawing/2014/main" id="{360AFFAD-41F8-2BAE-95BF-55F8D1EC914A}"/>
              </a:ext>
            </a:extLst>
          </p:cNvPr>
          <p:cNvSpPr/>
          <p:nvPr/>
        </p:nvSpPr>
        <p:spPr>
          <a:xfrm>
            <a:off x="822960" y="685800"/>
            <a:ext cx="8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 </a:t>
            </a:r>
            <a:r>
              <a:rPr lang="en-IN" sz="1500" b="1" dirty="0"/>
              <a:t>Individual Slot Monitoring</a:t>
            </a:r>
            <a:r>
              <a:rPr lang="en-US" sz="1500" b="1" dirty="0">
                <a:solidFill>
                  <a:srgbClr val="0D1B2A"/>
                </a:solidFill>
              </a:rPr>
              <a:t>  </a:t>
            </a:r>
            <a:r>
              <a:rPr lang="en-US" sz="1200" b="0" dirty="0">
                <a:solidFill>
                  <a:srgbClr val="555555"/>
                </a:solidFill>
              </a:rPr>
              <a:t>—</a:t>
            </a:r>
            <a:r>
              <a:rPr lang="en-US" sz="1400" dirty="0"/>
              <a:t>  </a:t>
            </a:r>
            <a:r>
              <a:rPr lang="en-US" sz="1350" dirty="0">
                <a:solidFill>
                  <a:schemeClr val="bg2">
                    <a:lumMod val="50000"/>
                  </a:schemeClr>
                </a:solidFill>
              </a:rPr>
              <a:t>Individual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slot identifiers (A1, A2, B1...) will enable precise slot allocation and real-time per-slot occupancy tracking on the admin dashboard.</a:t>
            </a:r>
            <a:endParaRPr lang="en-US" sz="135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Num2">
            <a:extLst>
              <a:ext uri="{FF2B5EF4-FFF2-40B4-BE49-F238E27FC236}">
                <a16:creationId xmlns:a16="http://schemas.microsoft.com/office/drawing/2014/main" id="{EC146600-B0A5-8756-E7C1-C69BD497E31D}"/>
              </a:ext>
            </a:extLst>
          </p:cNvPr>
          <p:cNvSpPr/>
          <p:nvPr/>
        </p:nvSpPr>
        <p:spPr>
          <a:xfrm>
            <a:off x="320040" y="1645920"/>
            <a:ext cx="411480" cy="4114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2">
            <a:extLst>
              <a:ext uri="{FF2B5EF4-FFF2-40B4-BE49-F238E27FC236}">
                <a16:creationId xmlns:a16="http://schemas.microsoft.com/office/drawing/2014/main" id="{6ED92B50-B43C-9B92-E02D-FF626071CB6D}"/>
              </a:ext>
            </a:extLst>
          </p:cNvPr>
          <p:cNvSpPr/>
          <p:nvPr/>
        </p:nvSpPr>
        <p:spPr>
          <a:xfrm>
            <a:off x="822960" y="1600200"/>
            <a:ext cx="8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Visitor Mobile App  </a:t>
            </a:r>
            <a:r>
              <a:rPr lang="en-US" sz="1350" b="0" dirty="0">
                <a:solidFill>
                  <a:srgbClr val="555555"/>
                </a:solidFill>
              </a:rPr>
              <a:t>— App for visitors to register, pay, check slot availability, and get entry confirmation on their phone</a:t>
            </a:r>
          </a:p>
        </p:txBody>
      </p:sp>
      <p:sp>
        <p:nvSpPr>
          <p:cNvPr id="35" name="Num3">
            <a:extLst>
              <a:ext uri="{FF2B5EF4-FFF2-40B4-BE49-F238E27FC236}">
                <a16:creationId xmlns:a16="http://schemas.microsoft.com/office/drawing/2014/main" id="{06F27AC6-4402-5A69-67A6-8ECA48C14C51}"/>
              </a:ext>
            </a:extLst>
          </p:cNvPr>
          <p:cNvSpPr/>
          <p:nvPr/>
        </p:nvSpPr>
        <p:spPr>
          <a:xfrm>
            <a:off x="320040" y="2560320"/>
            <a:ext cx="411480" cy="4114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3">
            <a:extLst>
              <a:ext uri="{FF2B5EF4-FFF2-40B4-BE49-F238E27FC236}">
                <a16:creationId xmlns:a16="http://schemas.microsoft.com/office/drawing/2014/main" id="{E25E4E45-AE57-AD88-4DFE-323E43FBEDD9}"/>
              </a:ext>
            </a:extLst>
          </p:cNvPr>
          <p:cNvSpPr/>
          <p:nvPr/>
        </p:nvSpPr>
        <p:spPr>
          <a:xfrm>
            <a:off x="822960" y="2514600"/>
            <a:ext cx="8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Multi-Venue Deployment across Kerala  </a:t>
            </a:r>
            <a:r>
              <a:rPr lang="en-US" sz="1350" b="0" dirty="0">
                <a:solidFill>
                  <a:srgbClr val="555555"/>
                </a:solidFill>
              </a:rPr>
              <a:t>— Extend system to other tourist destinations with per-venue slot count, pricing, and operating hours</a:t>
            </a:r>
          </a:p>
        </p:txBody>
      </p:sp>
      <p:sp>
        <p:nvSpPr>
          <p:cNvPr id="37" name="Num3">
            <a:extLst>
              <a:ext uri="{FF2B5EF4-FFF2-40B4-BE49-F238E27FC236}">
                <a16:creationId xmlns:a16="http://schemas.microsoft.com/office/drawing/2014/main" id="{F6D3AFEC-74C6-5E44-E45B-71BAAF5E4045}"/>
              </a:ext>
            </a:extLst>
          </p:cNvPr>
          <p:cNvSpPr/>
          <p:nvPr/>
        </p:nvSpPr>
        <p:spPr>
          <a:xfrm>
            <a:off x="320040" y="3505310"/>
            <a:ext cx="411480" cy="4114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FA5C9A-FA33-5A8C-4B1D-3EB55BCCF9FC}"/>
              </a:ext>
            </a:extLst>
          </p:cNvPr>
          <p:cNvSpPr txBox="1"/>
          <p:nvPr/>
        </p:nvSpPr>
        <p:spPr>
          <a:xfrm>
            <a:off x="762274" y="3434051"/>
            <a:ext cx="76194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500" b="1" dirty="0"/>
              <a:t>Subscription-Based Parking Plans</a:t>
            </a:r>
            <a:r>
              <a:rPr lang="en-US" sz="1500" b="1" dirty="0">
                <a:solidFill>
                  <a:srgbClr val="0D1B2A"/>
                </a:solidFill>
              </a:rPr>
              <a:t> </a:t>
            </a:r>
            <a:r>
              <a:rPr lang="en-US" sz="1400" b="0" dirty="0">
                <a:solidFill>
                  <a:srgbClr val="555555"/>
                </a:solidFill>
              </a:rPr>
              <a:t>— </a:t>
            </a:r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Introduce monthly and yearly parking plan</a:t>
            </a:r>
            <a:r>
              <a:rPr lang="en-US" sz="1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 allow users to access parking with a one-time payment, reducing repeated booking and improving convenience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14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3FCD07E0-D154-EDAA-2F11-0CE18FFE462C}"/>
              </a:ext>
            </a:extLst>
          </p:cNvPr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8" name="AccentLine">
            <a:extLst>
              <a:ext uri="{FF2B5EF4-FFF2-40B4-BE49-F238E27FC236}">
                <a16:creationId xmlns:a16="http://schemas.microsoft.com/office/drawing/2014/main" id="{9E4048B4-FA44-A65D-EA7C-4DF299A6B046}"/>
              </a:ext>
            </a:extLst>
          </p:cNvPr>
          <p:cNvSpPr/>
          <p:nvPr/>
        </p:nvSpPr>
        <p:spPr>
          <a:xfrm>
            <a:off x="320040" y="776160"/>
            <a:ext cx="3200400" cy="457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</p:sp>
      <p:sp>
        <p:nvSpPr>
          <p:cNvPr id="19" name="Pt1">
            <a:extLst>
              <a:ext uri="{FF2B5EF4-FFF2-40B4-BE49-F238E27FC236}">
                <a16:creationId xmlns:a16="http://schemas.microsoft.com/office/drawing/2014/main" id="{E45D3E10-7EB5-A458-1055-159CE48D4BC6}"/>
              </a:ext>
            </a:extLst>
          </p:cNvPr>
          <p:cNvSpPr/>
          <p:nvPr/>
        </p:nvSpPr>
        <p:spPr>
          <a:xfrm>
            <a:off x="320040" y="103280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96F3"/>
                </a:solidFill>
              </a:rPr>
              <a:t>✓  </a:t>
            </a:r>
            <a:r>
              <a:rPr lang="en-US" sz="1400" b="1" dirty="0">
                <a:solidFill>
                  <a:srgbClr val="FFFFFF"/>
                </a:solidFill>
              </a:rPr>
              <a:t>System is fully built and ready to deploy  </a:t>
            </a:r>
            <a:r>
              <a:rPr lang="en-US" sz="1300" dirty="0">
                <a:solidFill>
                  <a:srgbClr val="90A4AE"/>
                </a:solidFill>
              </a:rPr>
              <a:t>— web portal, ANPR module, admin dashboard, and database are all functional</a:t>
            </a:r>
          </a:p>
        </p:txBody>
      </p:sp>
      <p:sp>
        <p:nvSpPr>
          <p:cNvPr id="20" name="Pt2">
            <a:extLst>
              <a:ext uri="{FF2B5EF4-FFF2-40B4-BE49-F238E27FC236}">
                <a16:creationId xmlns:a16="http://schemas.microsoft.com/office/drawing/2014/main" id="{AD9BECEC-2598-3645-D4BC-AB3CCC97F8B2}"/>
              </a:ext>
            </a:extLst>
          </p:cNvPr>
          <p:cNvSpPr/>
          <p:nvPr/>
        </p:nvSpPr>
        <p:spPr>
          <a:xfrm>
            <a:off x="320040" y="158068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96F3"/>
                </a:solidFill>
              </a:rPr>
              <a:t>✓  </a:t>
            </a:r>
            <a:r>
              <a:rPr lang="en-US" sz="1400" b="1" dirty="0">
                <a:solidFill>
                  <a:srgbClr val="FFFFFF"/>
                </a:solidFill>
              </a:rPr>
              <a:t>Payment flow is demo-ready  </a:t>
            </a:r>
            <a:r>
              <a:rPr lang="en-US" sz="1300" dirty="0">
                <a:solidFill>
                  <a:srgbClr val="90A4AE"/>
                </a:solidFill>
              </a:rPr>
              <a:t>— only needs integration with a real gateway (Razorpay / PayU) to go fully live</a:t>
            </a:r>
          </a:p>
        </p:txBody>
      </p:sp>
      <p:sp>
        <p:nvSpPr>
          <p:cNvPr id="21" name="Pt3">
            <a:extLst>
              <a:ext uri="{FF2B5EF4-FFF2-40B4-BE49-F238E27FC236}">
                <a16:creationId xmlns:a16="http://schemas.microsoft.com/office/drawing/2014/main" id="{9CF98460-EB2D-EA96-233F-2500414653CE}"/>
              </a:ext>
            </a:extLst>
          </p:cNvPr>
          <p:cNvSpPr/>
          <p:nvPr/>
        </p:nvSpPr>
        <p:spPr>
          <a:xfrm>
            <a:off x="320040" y="212856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96F3"/>
                </a:solidFill>
              </a:rPr>
              <a:t>✓  </a:t>
            </a:r>
            <a:r>
              <a:rPr lang="en-US" sz="1400" b="1" dirty="0">
                <a:solidFill>
                  <a:srgbClr val="FFFFFF"/>
                </a:solidFill>
              </a:rPr>
              <a:t>ANPR achieves accuracy overall</a:t>
            </a:r>
            <a:r>
              <a:rPr lang="en-US" sz="1300" dirty="0">
                <a:solidFill>
                  <a:srgbClr val="90A4AE"/>
                </a:solidFill>
              </a:rPr>
              <a:t>— tested and evaluate accuracy overall</a:t>
            </a:r>
          </a:p>
        </p:txBody>
      </p:sp>
      <p:sp>
        <p:nvSpPr>
          <p:cNvPr id="22" name="Pt4">
            <a:extLst>
              <a:ext uri="{FF2B5EF4-FFF2-40B4-BE49-F238E27FC236}">
                <a16:creationId xmlns:a16="http://schemas.microsoft.com/office/drawing/2014/main" id="{603386EA-2634-C173-67F4-315FEB963945}"/>
              </a:ext>
            </a:extLst>
          </p:cNvPr>
          <p:cNvSpPr/>
          <p:nvPr/>
        </p:nvSpPr>
        <p:spPr>
          <a:xfrm>
            <a:off x="320040" y="267644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96F3"/>
                </a:solidFill>
              </a:rPr>
              <a:t>✓  </a:t>
            </a:r>
            <a:r>
              <a:rPr lang="en-US" sz="1400" b="1" dirty="0">
                <a:solidFill>
                  <a:srgbClr val="FFFFFF"/>
                </a:solidFill>
              </a:rPr>
              <a:t>Dual-lane design works for everyone  </a:t>
            </a:r>
            <a:r>
              <a:rPr lang="en-US" sz="1300" dirty="0">
                <a:solidFill>
                  <a:srgbClr val="90A4AE"/>
                </a:solidFill>
              </a:rPr>
              <a:t>— ANPR fast lane for registered visitors, manual lane for walk-ins; no one is left out</a:t>
            </a:r>
          </a:p>
        </p:txBody>
      </p:sp>
      <p:sp>
        <p:nvSpPr>
          <p:cNvPr id="23" name="Pt5">
            <a:extLst>
              <a:ext uri="{FF2B5EF4-FFF2-40B4-BE49-F238E27FC236}">
                <a16:creationId xmlns:a16="http://schemas.microsoft.com/office/drawing/2014/main" id="{C341E38A-7F8F-3012-89B4-F1D63120988B}"/>
              </a:ext>
            </a:extLst>
          </p:cNvPr>
          <p:cNvSpPr/>
          <p:nvPr/>
        </p:nvSpPr>
        <p:spPr>
          <a:xfrm>
            <a:off x="320040" y="322432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90A4AE"/>
              </a:solidFill>
            </a:endParaRPr>
          </a:p>
        </p:txBody>
      </p:sp>
      <p:sp>
        <p:nvSpPr>
          <p:cNvPr id="24" name="Pt6">
            <a:extLst>
              <a:ext uri="{FF2B5EF4-FFF2-40B4-BE49-F238E27FC236}">
                <a16:creationId xmlns:a16="http://schemas.microsoft.com/office/drawing/2014/main" id="{BA6D8E89-EDA6-EF9A-05AB-496C4F36473A}"/>
              </a:ext>
            </a:extLst>
          </p:cNvPr>
          <p:cNvSpPr/>
          <p:nvPr/>
        </p:nvSpPr>
        <p:spPr>
          <a:xfrm>
            <a:off x="320040" y="33389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96F3"/>
                </a:solidFill>
              </a:rPr>
              <a:t>✓  </a:t>
            </a:r>
            <a:r>
              <a:rPr lang="en-US" sz="1400" b="1" dirty="0">
                <a:solidFill>
                  <a:srgbClr val="FFFFFF"/>
                </a:solidFill>
              </a:rPr>
              <a:t>Solves a real problem at a real location  </a:t>
            </a:r>
            <a:r>
              <a:rPr lang="en-US" sz="1300" dirty="0">
                <a:solidFill>
                  <a:srgbClr val="90A4AE"/>
                </a:solidFill>
              </a:rPr>
              <a:t>— purpose-built for Kanakakunnu Palace and scalable to any parking facility in Kerala</a:t>
            </a:r>
          </a:p>
        </p:txBody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D980C844-FF0E-C931-03E6-676EB0D2B1D2}"/>
              </a:ext>
            </a:extLst>
          </p:cNvPr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Government Engineering College, Thrissur  — 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</a:rPr>
              <a:t>Midhunmadhav A R  |  Nimal Krishna M  |  Abhinave P 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8909C"/>
                </a:solidFill>
              </a:rPr>
              <a:t>Guide: Mr. Joby N J, Asst. Professor — GEC Thrissur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1252</Words>
  <Application>Microsoft Office PowerPoint</Application>
  <PresentationFormat>On-screen Show (16:9)</PresentationFormat>
  <Paragraphs>196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MIDHUN MADHAV A R</cp:lastModifiedBy>
  <cp:revision>5</cp:revision>
  <dcterms:created xsi:type="dcterms:W3CDTF">2026-03-23T15:24:09Z</dcterms:created>
  <dcterms:modified xsi:type="dcterms:W3CDTF">2026-05-19T13:39:47Z</dcterms:modified>
</cp:coreProperties>
</file>